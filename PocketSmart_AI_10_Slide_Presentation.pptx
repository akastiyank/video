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PocketSmart AI</a:t>
            </a:r>
          </a:p>
          <a:p>
            <a:pPr>
              <a:defRPr sz="2500">
                <a:solidFill>
                  <a:srgbClr val="D2DEF5"/>
                </a:solidFill>
              </a:defRPr>
            </a:pPr>
            <a:r>
              <a:t>Your Smart Budget &amp; Recommendation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9875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FFFFF"/>
                </a:solidFill>
              </a:defRPr>
            </a:pPr>
            <a:r>
              <a:t>GenAI-powered, budget-aware recommendations for Home Interiors, Party Planning &amp; Jewelry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33A"/>
                </a:solidFill>
              </a:defRPr>
            </a:pPr>
            <a:r>
              <a:t>Problem &amp;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62B33"/>
                </a:solidFill>
              </a:defRPr>
            </a:pPr>
            <a:r>
              <a:t>Problem: Managing budgets across home decor, events, and jewelry shopping can be overwhelming.</a:t>
            </a:r>
          </a:p>
          <a:p>
            <a:pPr>
              <a:spcAft>
                <a:spcPts val="1000"/>
              </a:spcAft>
              <a:defRPr sz="1800" b="0">
                <a:solidFill>
                  <a:srgbClr val="262B33"/>
                </a:solidFill>
              </a:defRPr>
            </a:pPr>
            <a:r>
              <a:t>Users face many products, platforms, price ranges, and choices.</a:t>
            </a:r>
          </a:p>
          <a:p>
            <a:pPr>
              <a:spcAft>
                <a:spcPts val="1000"/>
              </a:spcAft>
              <a:defRPr sz="1800" b="0">
                <a:solidFill>
                  <a:srgbClr val="262B33"/>
                </a:solidFill>
              </a:defRPr>
            </a:pPr>
            <a:r>
              <a:t>Solution: PocketSmart AI combines user budget, preferences, context, and optional images.</a:t>
            </a:r>
          </a:p>
          <a:p>
            <a:pPr>
              <a:spcAft>
                <a:spcPts val="1000"/>
              </a:spcAft>
              <a:defRPr sz="1800" b="0">
                <a:solidFill>
                  <a:srgbClr val="262B33"/>
                </a:solidFill>
              </a:defRPr>
            </a:pPr>
            <a:r>
              <a:t>The AI generates curated, personalized recommendations across multiple categories.</a:t>
            </a:r>
          </a:p>
          <a:p>
            <a:pPr>
              <a:spcAft>
                <a:spcPts val="1000"/>
              </a:spcAft>
              <a:defRPr sz="1800" b="0">
                <a:solidFill>
                  <a:srgbClr val="262B33"/>
                </a:solidFill>
              </a:defRPr>
            </a:pPr>
            <a:r>
              <a:t>Goal: make planning faster, simpler, budget-aware, and more personalized.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33A"/>
                </a:solidFill>
              </a:defRPr>
            </a:pPr>
            <a:r>
              <a:t>Key Features &amp; Use Cases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34290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2971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6CDF"/>
                </a:solidFill>
              </a:defRPr>
            </a:pPr>
            <a:r>
              <a:t>HOME INTERIOR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29260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62B33"/>
                </a:solidFill>
              </a:defRPr>
            </a:pPr>
            <a:r>
              <a:t>Budget → rooms &amp; quantities → furniture, decor and lighting suggestions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508760"/>
            <a:ext cx="34290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828800"/>
            <a:ext cx="2971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6CDF"/>
                </a:solidFill>
              </a:defRPr>
            </a:pPr>
            <a:r>
              <a:t>PARTY PLANNER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560320"/>
            <a:ext cx="29260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62B33"/>
                </a:solidFill>
              </a:defRPr>
            </a:pPr>
            <a:r>
              <a:t>Budget + guests + event → catering, venue and decoration suggestions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1508760"/>
            <a:ext cx="34290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828800"/>
            <a:ext cx="2971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6CDF"/>
                </a:solidFill>
              </a:defRPr>
            </a:pPr>
            <a:r>
              <a:t>JEWELRY PLANNER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560320"/>
            <a:ext cx="29260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62B33"/>
                </a:solidFill>
              </a:defRPr>
            </a:pPr>
            <a:r>
              <a:t>Budget + occasion + style + optional outfit image → matching jewelry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33A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62B33"/>
                </a:solidFill>
              </a:defRPr>
            </a:pPr>
            <a:r>
              <a:t>Frontend: HTML/CSS + Jinja2 templates for responsive forms and recommendation display.</a:t>
            </a:r>
          </a:p>
          <a:p>
            <a:pPr>
              <a:spcAft>
                <a:spcPts val="1000"/>
              </a:spcAft>
              <a:defRPr sz="1700" b="0">
                <a:solidFill>
                  <a:srgbClr val="262B33"/>
                </a:solidFill>
              </a:defRPr>
            </a:pPr>
            <a:r>
              <a:t>Backend: FastAPI handles routing, authentication, sessions, CORS, and API communication.</a:t>
            </a:r>
          </a:p>
          <a:p>
            <a:pPr>
              <a:spcAft>
                <a:spcPts val="1000"/>
              </a:spcAft>
              <a:defRPr sz="1700" b="0">
                <a:solidFill>
                  <a:srgbClr val="262B33"/>
                </a:solidFill>
              </a:defRPr>
            </a:pPr>
            <a:r>
              <a:t>AI Layer: Gemini 1.5 Flash Pro interprets budgets, preferences, text and images.</a:t>
            </a:r>
          </a:p>
          <a:p>
            <a:pPr>
              <a:spcAft>
                <a:spcPts val="1000"/>
              </a:spcAft>
              <a:defRPr sz="1700" b="0">
                <a:solidFill>
                  <a:srgbClr val="262B33"/>
                </a:solidFill>
              </a:defRPr>
            </a:pPr>
            <a:r>
              <a:t>Recommendation layer connects the planning modules with platform-specific product/service suggestions.</a:t>
            </a:r>
          </a:p>
          <a:p>
            <a:pPr>
              <a:spcAft>
                <a:spcPts val="1000"/>
              </a:spcAft>
              <a:defRPr sz="1700" b="0">
                <a:solidFill>
                  <a:srgbClr val="262B33"/>
                </a:solidFill>
              </a:defRPr>
            </a:pPr>
            <a:r>
              <a:t>External ecosystems referenced in the project include Amazon, Flipkart, IKEA, Swiggy, Zomato and OYO.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166360"/>
            <a:ext cx="1828800" cy="640080"/>
          </a:xfrm>
          <a:prstGeom prst="round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User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5166360"/>
            <a:ext cx="1828800" cy="640080"/>
          </a:xfrm>
          <a:prstGeom prst="round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5166360"/>
            <a:ext cx="1828800" cy="640080"/>
          </a:xfrm>
          <a:prstGeom prst="round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FastAPI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5166360"/>
            <a:ext cx="1828800" cy="64008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Gemini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5166360"/>
            <a:ext cx="1828800" cy="640080"/>
          </a:xfrm>
          <a:prstGeom prst="round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33A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62B33"/>
                </a:solidFill>
              </a:defRPr>
            </a:pPr>
            <a:r>
              <a:t>FastAPI — backend service, routing, session handling and API endpoints.</a:t>
            </a:r>
          </a:p>
          <a:p>
            <a:pPr>
              <a:spcAft>
                <a:spcPts val="1000"/>
              </a:spcAft>
              <a:defRPr sz="1800" b="0">
                <a:solidFill>
                  <a:srgbClr val="262B33"/>
                </a:solidFill>
              </a:defRPr>
            </a:pPr>
            <a:r>
              <a:t>Gemini 1.5 Flash Pro — multimodal AI for budget understanding, image analysis and recommendations.</a:t>
            </a:r>
          </a:p>
          <a:p>
            <a:pPr>
              <a:spcAft>
                <a:spcPts val="1000"/>
              </a:spcAft>
              <a:defRPr sz="1800" b="0">
                <a:solidFill>
                  <a:srgbClr val="262B33"/>
                </a:solidFill>
              </a:defRPr>
            </a:pPr>
            <a:r>
              <a:t>HTML / CSS / JavaScript / Jinja2 — interactive frontend and structured AI output display.</a:t>
            </a:r>
          </a:p>
          <a:p>
            <a:pPr>
              <a:spcAft>
                <a:spcPts val="1000"/>
              </a:spcAft>
              <a:defRPr sz="1800" b="0">
                <a:solidFill>
                  <a:srgbClr val="262B33"/>
                </a:solidFill>
              </a:defRPr>
            </a:pPr>
            <a:r>
              <a:t>Authentication &amp; Session Control — registration, login, logout, JWT token and session information.</a:t>
            </a:r>
          </a:p>
          <a:p>
            <a:pPr>
              <a:spcAft>
                <a:spcPts val="1000"/>
              </a:spcAft>
              <a:defRPr sz="1800" b="0">
                <a:solidFill>
                  <a:srgbClr val="262B33"/>
                </a:solidFill>
              </a:defRPr>
            </a:pPr>
            <a:r>
              <a:t>Third-party platform data — product and service sourcing from platforms described in the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33A"/>
                </a:solidFill>
              </a:defRPr>
            </a:pPr>
            <a:r>
              <a:t>Core Backend &amp; API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62B33"/>
                </a:solidFill>
              </a:defRPr>
            </a:pPr>
            <a:r>
              <a:t>/generate-home — generates home interior recommendations.</a:t>
            </a:r>
          </a:p>
          <a:p>
            <a:pPr>
              <a:spcAft>
                <a:spcPts val="1000"/>
              </a:spcAft>
              <a:defRPr sz="1600" b="0">
                <a:solidFill>
                  <a:srgbClr val="262B33"/>
                </a:solidFill>
              </a:defRPr>
            </a:pPr>
            <a:r>
              <a:t>/generate-party — recommends party venues, food and decorations.</a:t>
            </a:r>
          </a:p>
          <a:p>
            <a:pPr>
              <a:spcAft>
                <a:spcPts val="1000"/>
              </a:spcAft>
              <a:defRPr sz="1600" b="0">
                <a:solidFill>
                  <a:srgbClr val="262B33"/>
                </a:solidFill>
              </a:defRPr>
            </a:pPr>
            <a:r>
              <a:t>/generate-jewelry — accepts text and optional image inputs for style-matched jewelry.</a:t>
            </a:r>
          </a:p>
          <a:p>
            <a:pPr>
              <a:spcAft>
                <a:spcPts val="1000"/>
              </a:spcAft>
              <a:defRPr sz="1600" b="0">
                <a:solidFill>
                  <a:srgbClr val="262B33"/>
                </a:solidFill>
              </a:defRPr>
            </a:pPr>
            <a:r>
              <a:t>/register, /login, /logout, /token — user authentication and authorization.</a:t>
            </a:r>
          </a:p>
          <a:p>
            <a:pPr>
              <a:spcAft>
                <a:spcPts val="1000"/>
              </a:spcAft>
              <a:defRPr sz="1600" b="0">
                <a:solidFill>
                  <a:srgbClr val="262B33"/>
                </a:solidFill>
              </a:defRPr>
            </a:pPr>
            <a:r>
              <a:t>/session-info, /session-data — personalized session information.</a:t>
            </a:r>
          </a:p>
          <a:p>
            <a:pPr>
              <a:spcAft>
                <a:spcPts val="1000"/>
              </a:spcAft>
              <a:defRPr sz="1600" b="0">
                <a:solidFill>
                  <a:srgbClr val="262B33"/>
                </a:solidFill>
              </a:defRPr>
            </a:pPr>
            <a:r>
              <a:t>/recommendations-details and /history — detailed recommendations and previous queries/results.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33A"/>
                </a:solidFill>
              </a:defRPr>
            </a:pPr>
            <a:r>
              <a:t>AI Recommendation Workflow</a:t>
            </a:r>
          </a:p>
        </p:txBody>
      </p:sp>
      <p:sp>
        <p:nvSpPr>
          <p:cNvPr id="4" name="Oval 3"/>
          <p:cNvSpPr/>
          <p:nvPr/>
        </p:nvSpPr>
        <p:spPr>
          <a:xfrm>
            <a:off x="1097280" y="1463040"/>
            <a:ext cx="594360" cy="594360"/>
          </a:xfrm>
          <a:prstGeom prst="ellipse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28600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8233A"/>
                </a:solidFill>
              </a:defRPr>
            </a:pPr>
            <a:r>
              <a:t>Collect 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26080"/>
            <a:ext cx="19202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62B33"/>
                </a:solidFill>
              </a:defRPr>
            </a:pPr>
            <a:r>
              <a:t>Budget, preferences, category, guests or optional image</a:t>
            </a:r>
          </a:p>
        </p:txBody>
      </p:sp>
      <p:sp>
        <p:nvSpPr>
          <p:cNvPr id="7" name="Oval 6"/>
          <p:cNvSpPr/>
          <p:nvPr/>
        </p:nvSpPr>
        <p:spPr>
          <a:xfrm>
            <a:off x="3428999" y="1463040"/>
            <a:ext cx="594360" cy="594360"/>
          </a:xfrm>
          <a:prstGeom prst="ellipse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39" y="228600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8233A"/>
                </a:solidFill>
              </a:defRPr>
            </a:pPr>
            <a:r>
              <a:t>Build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39" y="2926080"/>
            <a:ext cx="19202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62B33"/>
                </a:solidFill>
              </a:defRPr>
            </a:pPr>
            <a:r>
              <a:t>Planner-specific prompt and budget context</a:t>
            </a:r>
          </a:p>
        </p:txBody>
      </p:sp>
      <p:sp>
        <p:nvSpPr>
          <p:cNvPr id="10" name="Oval 9"/>
          <p:cNvSpPr/>
          <p:nvPr/>
        </p:nvSpPr>
        <p:spPr>
          <a:xfrm>
            <a:off x="5760720" y="1463040"/>
            <a:ext cx="594360" cy="594360"/>
          </a:xfrm>
          <a:prstGeom prst="ellipse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59" y="228600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8233A"/>
                </a:solidFill>
              </a:defRPr>
            </a:pPr>
            <a:r>
              <a:t>Gemini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59" y="2926080"/>
            <a:ext cx="19202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62B33"/>
                </a:solidFill>
              </a:defRPr>
            </a:pPr>
            <a:r>
              <a:t>Text reasoning + multimodal image analysis when applicable</a:t>
            </a:r>
          </a:p>
        </p:txBody>
      </p:sp>
      <p:sp>
        <p:nvSpPr>
          <p:cNvPr id="13" name="Oval 12"/>
          <p:cNvSpPr/>
          <p:nvPr/>
        </p:nvSpPr>
        <p:spPr>
          <a:xfrm>
            <a:off x="8092440" y="1463040"/>
            <a:ext cx="594360" cy="594360"/>
          </a:xfrm>
          <a:prstGeom prst="ellipse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28600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8233A"/>
                </a:solidFill>
              </a:defRPr>
            </a:pPr>
            <a:r>
              <a:t>Generate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926080"/>
            <a:ext cx="19202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62B33"/>
                </a:solidFill>
              </a:defRPr>
            </a:pPr>
            <a:r>
              <a:t>Curated options based on category, style and budget</a:t>
            </a:r>
          </a:p>
        </p:txBody>
      </p:sp>
      <p:sp>
        <p:nvSpPr>
          <p:cNvPr id="16" name="Oval 15"/>
          <p:cNvSpPr/>
          <p:nvPr/>
        </p:nvSpPr>
        <p:spPr>
          <a:xfrm>
            <a:off x="10424160" y="1463040"/>
            <a:ext cx="594360" cy="594360"/>
          </a:xfrm>
          <a:prstGeom prst="ellipse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228600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8233A"/>
                </a:solidFill>
              </a:defRPr>
            </a:pPr>
            <a:r>
              <a:t>Display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9800" y="2926080"/>
            <a:ext cx="19202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62B33"/>
                </a:solidFill>
              </a:defRPr>
            </a:pPr>
            <a:r>
              <a:t>Structured recommendation cards for the user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33A"/>
                </a:solidFill>
              </a:defRPr>
            </a:pPr>
            <a:r>
              <a:t>User Interface &amp;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62B33"/>
                </a:solidFill>
              </a:defRPr>
            </a:pPr>
            <a:r>
              <a:t>Home page introduces PocketSmart AI and provides access to planner modules.</a:t>
            </a:r>
          </a:p>
          <a:p>
            <a:pPr>
              <a:spcAft>
                <a:spcPts val="1000"/>
              </a:spcAft>
              <a:defRPr sz="1700" b="0">
                <a:solidFill>
                  <a:srgbClr val="262B33"/>
                </a:solidFill>
              </a:defRPr>
            </a:pPr>
            <a:r>
              <a:t>Registration and Login enable personalized access and saved data.</a:t>
            </a:r>
          </a:p>
          <a:p>
            <a:pPr>
              <a:spcAft>
                <a:spcPts val="1000"/>
              </a:spcAft>
              <a:defRPr sz="1700" b="0">
                <a:solidFill>
                  <a:srgbClr val="262B33"/>
                </a:solidFill>
              </a:defRPr>
            </a:pPr>
            <a:r>
              <a:t>Dashboard displays recent recommendations, saved queries and personalized insights.</a:t>
            </a:r>
          </a:p>
          <a:p>
            <a:pPr>
              <a:spcAft>
                <a:spcPts val="1000"/>
              </a:spcAft>
              <a:defRPr sz="1700" b="0">
                <a:solidFill>
                  <a:srgbClr val="262B33"/>
                </a:solidFill>
              </a:defRPr>
            </a:pPr>
            <a:r>
              <a:t>Each planner has dedicated input and recommendation pages.</a:t>
            </a:r>
          </a:p>
          <a:p>
            <a:pPr>
              <a:spcAft>
                <a:spcPts val="1000"/>
              </a:spcAft>
              <a:defRPr sz="1700" b="0">
                <a:solidFill>
                  <a:srgbClr val="262B33"/>
                </a:solidFill>
              </a:defRPr>
            </a:pPr>
            <a:r>
              <a:t>Recommendation History allows users to review and reuse previous plans.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33A"/>
                </a:solidFill>
              </a:defRPr>
            </a:pPr>
            <a:r>
              <a:t>Testing, Optimization &amp; Project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62B33"/>
                </a:solidFill>
              </a:defRPr>
            </a:pPr>
            <a:r>
              <a:t>Milestone 1 — Gemini AI initialization and API connectivity.</a:t>
            </a:r>
          </a:p>
          <a:p>
            <a:pPr>
              <a:spcAft>
                <a:spcPts val="1000"/>
              </a:spcAft>
              <a:defRPr sz="1500" b="0">
                <a:solidFill>
                  <a:srgbClr val="262B33"/>
                </a:solidFill>
              </a:defRPr>
            </a:pPr>
            <a:r>
              <a:t>Milestone 2 — Core functionality development for Home, Party and Jewelry planners.</a:t>
            </a:r>
          </a:p>
          <a:p>
            <a:pPr>
              <a:spcAft>
                <a:spcPts val="1000"/>
              </a:spcAft>
              <a:defRPr sz="1500" b="0">
                <a:solidFill>
                  <a:srgbClr val="262B33"/>
                </a:solidFill>
              </a:defRPr>
            </a:pPr>
            <a:r>
              <a:t>Milestone 3 — FastAPI backend integration, routes, authentication and sessions.</a:t>
            </a:r>
          </a:p>
          <a:p>
            <a:pPr>
              <a:spcAft>
                <a:spcPts val="1000"/>
              </a:spcAft>
              <a:defRPr sz="1500" b="0">
                <a:solidFill>
                  <a:srgbClr val="262B33"/>
                </a:solidFill>
              </a:defRPr>
            </a:pPr>
            <a:r>
              <a:t>Milestone 4 — Responsive UI development and AI output rendering.</a:t>
            </a:r>
          </a:p>
          <a:p>
            <a:pPr>
              <a:spcAft>
                <a:spcPts val="1000"/>
              </a:spcAft>
              <a:defRPr sz="1500" b="0">
                <a:solidFill>
                  <a:srgbClr val="262B33"/>
                </a:solidFill>
              </a:defRPr>
            </a:pPr>
            <a:r>
              <a:t>Milestone 5 — Real-world testing, prompt refinement, validation and fallback recommendations.</a:t>
            </a:r>
          </a:p>
          <a:p>
            <a:pPr>
              <a:spcAft>
                <a:spcPts val="1000"/>
              </a:spcAft>
              <a:defRPr sz="1500" b="0">
                <a:solidFill>
                  <a:srgbClr val="262B33"/>
                </a:solidFill>
              </a:defRPr>
            </a:pPr>
            <a:r>
              <a:t>Evaluation focuses on response quality, budget adherence, platform accuracy and smooth UI/UX.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FFFFF"/>
                </a:solidFill>
              </a:defRPr>
            </a:pPr>
            <a:r>
              <a:t>PocketSmart AI combines generative AI and web technologies to simplify everyday budget planning.</a:t>
            </a:r>
          </a:p>
          <a:p>
            <a:pPr>
              <a:spcAft>
                <a:spcPts val="1000"/>
              </a:spcAft>
              <a:defRPr sz="1800" b="0">
                <a:solidFill>
                  <a:srgbClr val="FFFFFF"/>
                </a:solidFill>
              </a:defRPr>
            </a:pPr>
            <a:r>
              <a:t>It supports Home Interiors, Party Planning and Jewelry selection.</a:t>
            </a:r>
          </a:p>
          <a:p>
            <a:pPr>
              <a:spcAft>
                <a:spcPts val="1000"/>
              </a:spcAft>
              <a:defRPr sz="1800" b="0">
                <a:solidFill>
                  <a:srgbClr val="FFFFFF"/>
                </a:solidFill>
              </a:defRPr>
            </a:pPr>
            <a:r>
              <a:t>FastAPI provides modular backend services, secure routing and session handling.</a:t>
            </a:r>
          </a:p>
          <a:p>
            <a:pPr>
              <a:spcAft>
                <a:spcPts val="1000"/>
              </a:spcAft>
              <a:defRPr sz="1800" b="0">
                <a:solidFill>
                  <a:srgbClr val="FFFFFF"/>
                </a:solidFill>
              </a:defRPr>
            </a:pPr>
            <a:r>
              <a:t>Gemini 1.5 Flash Pro enables context-aware recommendations using text, budgets and images.</a:t>
            </a:r>
          </a:p>
          <a:p>
            <a:pPr>
              <a:spcAft>
                <a:spcPts val="1000"/>
              </a:spcAft>
              <a:defRPr sz="1800" b="0">
                <a:solidFill>
                  <a:srgbClr val="FFFFFF"/>
                </a:solidFill>
              </a:defRPr>
            </a:pPr>
            <a:r>
              <a:t>The project demonstrates a practical AI assistant designed to save time and support personalized, budget-friendly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